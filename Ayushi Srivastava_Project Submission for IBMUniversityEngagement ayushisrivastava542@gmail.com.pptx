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2" r:id="rId3"/>
    <p:sldId id="273" r:id="rId4"/>
    <p:sldId id="259" r:id="rId5"/>
    <p:sldId id="260" r:id="rId6"/>
    <p:sldId id="261" r:id="rId7"/>
    <p:sldId id="264" r:id="rId8"/>
    <p:sldId id="266" r:id="rId9"/>
    <p:sldId id="267" r:id="rId10"/>
    <p:sldId id="268" r:id="rId11"/>
    <p:sldId id="269" r:id="rId12"/>
    <p:sldId id="275" r:id="rId13"/>
    <p:sldId id="270" r:id="rId14"/>
    <p:sldId id="271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b3W1nguJpyLvdkVeio7GQyZY/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63BE5B-8E01-4B91-9C5C-8479B17E1E5F}">
  <a:tblStyle styleId="{F063BE5B-8E01-4B91-9C5C-8479B17E1E5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D5578E4-C2D7-0EB7-F9DF-F3E2BA3B1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0B893C72-4D98-CE28-B3BF-48D50A69A8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BC15638F-DCD3-2BD6-0DBF-8D66277564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1388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A910E48B-B4BB-D785-2353-013B9A01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:notes">
            <a:extLst>
              <a:ext uri="{FF2B5EF4-FFF2-40B4-BE49-F238E27FC236}">
                <a16:creationId xmlns:a16="http://schemas.microsoft.com/office/drawing/2014/main" id="{A4FA6D89-742A-E11E-9332-32E4CB5BAF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34:notes">
            <a:extLst>
              <a:ext uri="{FF2B5EF4-FFF2-40B4-BE49-F238E27FC236}">
                <a16:creationId xmlns:a16="http://schemas.microsoft.com/office/drawing/2014/main" id="{F8E701D7-1145-D0B7-1073-D81B9A0D76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1597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E9480328-CC70-463A-29CD-50D5B2CC9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:notes">
            <a:extLst>
              <a:ext uri="{FF2B5EF4-FFF2-40B4-BE49-F238E27FC236}">
                <a16:creationId xmlns:a16="http://schemas.microsoft.com/office/drawing/2014/main" id="{8D342C95-5A22-14BF-BC1B-048AF278C6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3:notes">
            <a:extLst>
              <a:ext uri="{FF2B5EF4-FFF2-40B4-BE49-F238E27FC236}">
                <a16:creationId xmlns:a16="http://schemas.microsoft.com/office/drawing/2014/main" id="{292E24A4-3606-6D1A-4296-C30C28B456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20380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6600" b="1"/>
              <a:t>IBM University Engagement Project Submission</a:t>
            </a:r>
            <a:br>
              <a:rPr lang="en-US" b="1"/>
            </a:br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 i="1"/>
              <a:t>“Exploring the Power of Agentic AI with IBM Granite and LangFlow”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622456D1-A511-7675-666B-A7635B351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>
            <a:extLst>
              <a:ext uri="{FF2B5EF4-FFF2-40B4-BE49-F238E27FC236}">
                <a16:creationId xmlns:a16="http://schemas.microsoft.com/office/drawing/2014/main" id="{DF962E05-0F3A-9753-8025-6DBCC31C0E71}"/>
              </a:ext>
            </a:extLst>
          </p:cNvPr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">
            <a:extLst>
              <a:ext uri="{FF2B5EF4-FFF2-40B4-BE49-F238E27FC236}">
                <a16:creationId xmlns:a16="http://schemas.microsoft.com/office/drawing/2014/main" id="{BFDF709F-EE3B-B5FB-1E3E-C77332E580E8}"/>
              </a:ext>
            </a:extLst>
          </p:cNvPr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2">
            <a:extLst>
              <a:ext uri="{FF2B5EF4-FFF2-40B4-BE49-F238E27FC236}">
                <a16:creationId xmlns:a16="http://schemas.microsoft.com/office/drawing/2014/main" id="{9DF70864-5196-2611-F519-C0C7272E3E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1451892"/>
              </p:ext>
            </p:extLst>
          </p:nvPr>
        </p:nvGraphicFramePr>
        <p:xfrm>
          <a:off x="1299257" y="2600315"/>
          <a:ext cx="9395000" cy="2167125"/>
        </p:xfrm>
        <a:graphic>
          <a:graphicData uri="http://schemas.openxmlformats.org/drawingml/2006/table">
            <a:tbl>
              <a:tblPr>
                <a:noFill/>
                <a:tableStyleId>{F063BE5B-8E01-4B91-9C5C-8479B17E1E5F}</a:tableStyleId>
              </a:tblPr>
              <a:tblGrid>
                <a:gridCol w="206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3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Ayushi Srivastava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ayushisrivastava542@gmail.com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9236868023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7" name="Google Shape;87;p2">
            <a:extLst>
              <a:ext uri="{FF2B5EF4-FFF2-40B4-BE49-F238E27FC236}">
                <a16:creationId xmlns:a16="http://schemas.microsoft.com/office/drawing/2014/main" id="{C38AA810-52EC-2DE9-48FF-AECC3D8279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4065316" y="3738417"/>
            <a:ext cx="737916" cy="8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6536E51C-9AB0-6E61-70E0-AD46A50E834C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 </a:t>
            </a:r>
            <a:r>
              <a:rPr lang="en-US" sz="2400" b="1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 Education ]</a:t>
            </a:r>
            <a:endParaRPr sz="2400" b="1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4A9A1A5A-0669-D1E0-3D98-554C2FFC5A1E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Title – </a:t>
            </a:r>
            <a:r>
              <a:rPr lang="en-US" sz="2400" b="1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cs typeface="Times New Roman"/>
                <a:sym typeface="Times New Roman"/>
              </a:rPr>
              <a:t>Interview Trainer Agent </a:t>
            </a:r>
            <a:r>
              <a:rPr lang="en-US" sz="2400" dirty="0">
                <a:highlight>
                  <a:srgbClr val="FFFF00"/>
                </a:highlight>
              </a:rPr>
              <a:t>– “PrepPilot AI” </a:t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cs typeface="Times New Roman"/>
                <a:sym typeface="Times New Roman"/>
              </a:rPr>
              <a:t>#22 </a:t>
            </a:r>
            <a:r>
              <a:rPr lang="en-US" sz="2400" b="1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]</a:t>
            </a:r>
            <a:endParaRPr sz="2400" b="1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960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8D272DDD-F04F-AB5C-F1FB-C3D819DAF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>
            <a:extLst>
              <a:ext uri="{FF2B5EF4-FFF2-40B4-BE49-F238E27FC236}">
                <a16:creationId xmlns:a16="http://schemas.microsoft.com/office/drawing/2014/main" id="{8DD45847-A875-CEF3-B8B4-DC3E67722752}"/>
              </a:ext>
            </a:extLst>
          </p:cNvPr>
          <p:cNvSpPr txBox="1"/>
          <p:nvPr/>
        </p:nvSpPr>
        <p:spPr>
          <a:xfrm>
            <a:off x="576072" y="1234440"/>
            <a:ext cx="10607040" cy="529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b="1" dirty="0"/>
              <a:t>Problem Statement No. 22 – Interview Trainer Agent</a:t>
            </a:r>
          </a:p>
          <a:p>
            <a:r>
              <a:rPr lang="en-US" sz="1800" b="1" dirty="0"/>
              <a:t>The Challenge</a:t>
            </a:r>
          </a:p>
          <a:p>
            <a:r>
              <a:rPr lang="en-US" sz="1800" dirty="0"/>
              <a:t>Preparing for job interviews is difficult because candidates often lack access to role-specific interview questions, personalized feedback, and realistic interview simulations. Existing resources are generic and fail to adapt to individual experience levels, resumes, and job roles.</a:t>
            </a:r>
          </a:p>
          <a:p>
            <a:r>
              <a:rPr lang="en-US" sz="1800" dirty="0"/>
              <a:t>The Interview Trainer Agent uses </a:t>
            </a:r>
            <a:r>
              <a:rPr lang="en-US" sz="1800" b="1" dirty="0"/>
              <a:t>Retrieval-Augmented Generation (RAG)</a:t>
            </a:r>
            <a:r>
              <a:rPr lang="en-US" sz="1800" dirty="0"/>
              <a:t> and </a:t>
            </a:r>
            <a:r>
              <a:rPr lang="en-US" sz="1800" b="1" dirty="0"/>
              <a:t>IBM Granite Models</a:t>
            </a:r>
            <a:r>
              <a:rPr lang="en-US" sz="1800" dirty="0"/>
              <a:t> to provide personalized interview preparation by retrieving relevant technical questions, HR scenarios, company interview experiences, and industry expectations from trusted knowledge sources.</a:t>
            </a:r>
          </a:p>
          <a:p>
            <a:r>
              <a:rPr lang="en-US" sz="2000" b="1" dirty="0"/>
              <a:t>The 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Develop an AI-powered Interview Trainer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Conducts HR and technical mock interviews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Generates personalized interview questions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Evaluates user responses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detailed AI feedback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Identifies strengths and weaknesses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Suggests improvement plans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Tracks interview performance over time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4">
            <a:extLst>
              <a:ext uri="{FF2B5EF4-FFF2-40B4-BE49-F238E27FC236}">
                <a16:creationId xmlns:a16="http://schemas.microsoft.com/office/drawing/2014/main" id="{CC812B10-AAAD-59FA-D669-BB8A221E5910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-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3011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5"/>
          <p:cNvSpPr txBox="1"/>
          <p:nvPr/>
        </p:nvSpPr>
        <p:spPr>
          <a:xfrm>
            <a:off x="455468" y="1168656"/>
            <a:ext cx="10652414" cy="4955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sz="2400" b="1" dirty="0"/>
              <a:t>Proposed Solution: </a:t>
            </a:r>
            <a:r>
              <a:rPr lang="en-US" sz="2400" dirty="0"/>
              <a:t>PrepPilot AI is an intelligent Interview Trainer Agent developed using </a:t>
            </a:r>
            <a:r>
              <a:rPr lang="en-US" sz="2400" b="1" dirty="0"/>
              <a:t>React, Spring Boot, PostgreSQL, IBM watsonx.ai, IBM Granite Models, and IBM Cloud Lite Services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The platform analyzes the user's profile, experience level, resume, and selected job role to generate customized interview questions. Using AI-powered reasoning and Retrieval-Augmented Generation (RAG), it provides accurate answers, evaluates user responses, identifies improvement areas, and recommends personalized preparation strategies.</a:t>
            </a:r>
          </a:p>
          <a:p>
            <a:r>
              <a:rPr lang="en-US" sz="2400" dirty="0"/>
              <a:t>The application supports both technical and behavioral interviews while maintaining interview history and progress reports.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5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6"/>
          <p:cNvSpPr txBox="1"/>
          <p:nvPr/>
        </p:nvSpPr>
        <p:spPr>
          <a:xfrm>
            <a:off x="777240" y="484632"/>
            <a:ext cx="1035142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Used-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C00D93-F772-E91D-2686-62BAB2E1F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63782"/>
            <a:ext cx="5181600" cy="5013181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b="1" dirty="0"/>
              <a:t>Artificial Intelligence</a:t>
            </a:r>
          </a:p>
          <a:p>
            <a:r>
              <a:rPr lang="en-US" dirty="0"/>
              <a:t>IBM watsonx.ai </a:t>
            </a:r>
          </a:p>
          <a:p>
            <a:r>
              <a:rPr lang="en-US" dirty="0"/>
              <a:t>IBM Granite Models </a:t>
            </a:r>
          </a:p>
          <a:p>
            <a:r>
              <a:rPr lang="en-US" dirty="0"/>
              <a:t>Retrieval-Augmented Generation (RAG) </a:t>
            </a:r>
          </a:p>
          <a:p>
            <a:pPr marL="114300" indent="0">
              <a:buNone/>
            </a:pPr>
            <a:r>
              <a:rPr lang="en-US" b="1" dirty="0"/>
              <a:t>Cloud</a:t>
            </a:r>
          </a:p>
          <a:p>
            <a:r>
              <a:rPr lang="en-US" dirty="0"/>
              <a:t>IBM Cloud Lite Services </a:t>
            </a:r>
          </a:p>
          <a:p>
            <a:pPr marL="114300" indent="0">
              <a:buNone/>
            </a:pPr>
            <a:r>
              <a:rPr lang="en-US" b="1" dirty="0"/>
              <a:t>Development Tools</a:t>
            </a:r>
          </a:p>
          <a:p>
            <a:r>
              <a:rPr lang="en-US" dirty="0"/>
              <a:t>Maven </a:t>
            </a:r>
          </a:p>
          <a:p>
            <a:r>
              <a:rPr lang="en-US" dirty="0"/>
              <a:t>Git </a:t>
            </a:r>
          </a:p>
          <a:p>
            <a:r>
              <a:rPr lang="en-US" dirty="0"/>
              <a:t>GitHub </a:t>
            </a:r>
          </a:p>
          <a:p>
            <a:r>
              <a:rPr lang="en-US" dirty="0"/>
              <a:t>VS Code 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A7B754A-15DD-614C-1D84-1987CB622B9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163782"/>
            <a:ext cx="5181600" cy="5013181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b="1" dirty="0"/>
              <a:t>Frontend</a:t>
            </a:r>
          </a:p>
          <a:p>
            <a:r>
              <a:rPr lang="en-US" dirty="0"/>
              <a:t>React.js </a:t>
            </a:r>
          </a:p>
          <a:p>
            <a:r>
              <a:rPr lang="en-US" dirty="0"/>
              <a:t>Bootstrap </a:t>
            </a:r>
          </a:p>
          <a:p>
            <a:r>
              <a:rPr lang="en-US" dirty="0"/>
              <a:t>Axios </a:t>
            </a:r>
          </a:p>
          <a:p>
            <a:pPr marL="114300" indent="0">
              <a:buNone/>
            </a:pPr>
            <a:r>
              <a:rPr lang="en-US" b="1" dirty="0"/>
              <a:t>Backend</a:t>
            </a:r>
          </a:p>
          <a:p>
            <a:r>
              <a:rPr lang="en-US" dirty="0"/>
              <a:t>Java 21 </a:t>
            </a:r>
          </a:p>
          <a:p>
            <a:r>
              <a:rPr lang="en-US" dirty="0"/>
              <a:t>Spring Boot </a:t>
            </a:r>
          </a:p>
          <a:p>
            <a:r>
              <a:rPr lang="en-US" dirty="0"/>
              <a:t>Spring Security (JWT) </a:t>
            </a:r>
          </a:p>
          <a:p>
            <a:r>
              <a:rPr lang="en-US" dirty="0"/>
              <a:t>REST APIs </a:t>
            </a:r>
          </a:p>
          <a:p>
            <a:pPr marL="114300" indent="0">
              <a:buNone/>
            </a:pPr>
            <a:r>
              <a:rPr lang="en-US" b="1" dirty="0"/>
              <a:t>Database</a:t>
            </a:r>
          </a:p>
          <a:p>
            <a:r>
              <a:rPr lang="en-US" dirty="0"/>
              <a:t>PostgreSQL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 Used -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7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37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37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37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7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7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37"/>
          <p:cNvSpPr txBox="1"/>
          <p:nvPr/>
        </p:nvSpPr>
        <p:spPr>
          <a:xfrm>
            <a:off x="995448" y="1490028"/>
            <a:ext cx="8823960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dirty="0"/>
              <a:t>1. Chat Input: </a:t>
            </a:r>
            <a:r>
              <a:rPr lang="en-US" sz="2000" dirty="0"/>
              <a:t>Collects user inputs such as job role, experience level, resume details, and interview preferences.</a:t>
            </a:r>
          </a:p>
          <a:p>
            <a:r>
              <a:rPr lang="en-US" sz="2000" b="1" dirty="0"/>
              <a:t>2. Prompt </a:t>
            </a:r>
            <a:r>
              <a:rPr lang="en-US" sz="2000" b="1" dirty="0" err="1"/>
              <a:t>Template:</a:t>
            </a:r>
            <a:r>
              <a:rPr lang="en-US" sz="2000" dirty="0" err="1"/>
              <a:t>Creates</a:t>
            </a:r>
            <a:r>
              <a:rPr lang="en-US" sz="2000" dirty="0"/>
              <a:t> structured prompts for generating personalized interview questions and evaluation criteria.</a:t>
            </a:r>
          </a:p>
          <a:p>
            <a:r>
              <a:rPr lang="en-US" sz="2000" b="1" dirty="0"/>
              <a:t>3. IBM watsonx.ai Model: </a:t>
            </a:r>
            <a:r>
              <a:rPr lang="en-US" sz="2000" dirty="0"/>
              <a:t>Connects to IBM Granite Models to generate interview questions, model answers, and AI-driven feedback.</a:t>
            </a:r>
          </a:p>
          <a:p>
            <a:r>
              <a:rPr lang="en-US" sz="2000" b="1" dirty="0"/>
              <a:t>4. RAG Component (Retriever): </a:t>
            </a:r>
            <a:r>
              <a:rPr lang="en-US" sz="2000" dirty="0"/>
              <a:t>Retrieves relevant interview questions, HR scenarios, and industry-specific information from the knowledge base before sending the context to the AI model.</a:t>
            </a:r>
          </a:p>
          <a:p>
            <a:r>
              <a:rPr lang="en-US" sz="2000" b="1" dirty="0"/>
              <a:t>5. Chat Output: </a:t>
            </a:r>
            <a:r>
              <a:rPr lang="en-US" sz="2000" dirty="0"/>
              <a:t>Displays interview questions, AI responses, feedback, interview scores, and improvement suggestions.</a:t>
            </a:r>
          </a:p>
          <a:p>
            <a:r>
              <a:rPr lang="en-US" sz="2000" b="1" dirty="0"/>
              <a:t>6. Memory Component: </a:t>
            </a:r>
            <a:r>
              <a:rPr lang="en-US" sz="2000" dirty="0"/>
              <a:t>Maintains conversation context across multiple interview questions to simulate a realistic interview session.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the solution 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621792" y="1167493"/>
            <a:ext cx="7406640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dirty="0"/>
              <a:t>Role of Agentic AI:</a:t>
            </a:r>
          </a:p>
          <a:p>
            <a:r>
              <a:rPr lang="en-US" sz="2000" dirty="0"/>
              <a:t>PrepPilot AI uses Agentic AI to simulate an intelligent interviewer capable of understanding context and adapting interview questions based on user responses.</a:t>
            </a:r>
          </a:p>
          <a:p>
            <a:r>
              <a:rPr lang="en-US" sz="2000" dirty="0"/>
              <a:t>The AI agent:</a:t>
            </a:r>
          </a:p>
          <a:p>
            <a:r>
              <a:rPr lang="en-US" sz="2000" dirty="0"/>
              <a:t>Reads resume information </a:t>
            </a:r>
          </a:p>
          <a:p>
            <a:r>
              <a:rPr lang="en-US" sz="2000" dirty="0"/>
              <a:t>Understands job role </a:t>
            </a:r>
          </a:p>
          <a:p>
            <a:r>
              <a:rPr lang="en-US" sz="2000" dirty="0"/>
              <a:t>Retrieves relevant interview knowledge using RAG </a:t>
            </a:r>
          </a:p>
          <a:p>
            <a:r>
              <a:rPr lang="en-US" sz="2000" dirty="0"/>
              <a:t>Generates personalized interview questions </a:t>
            </a:r>
          </a:p>
          <a:p>
            <a:r>
              <a:rPr lang="en-US" sz="2000" dirty="0"/>
              <a:t>Evaluates answers </a:t>
            </a:r>
          </a:p>
          <a:p>
            <a:r>
              <a:rPr lang="en-US" sz="2000" dirty="0"/>
              <a:t>Suggests improvements </a:t>
            </a:r>
          </a:p>
          <a:p>
            <a:r>
              <a:rPr lang="en-US" sz="2000" dirty="0"/>
              <a:t>Tracks learning progress </a:t>
            </a:r>
          </a:p>
          <a:p>
            <a:r>
              <a:rPr lang="en-US" sz="2000" dirty="0"/>
              <a:t>This creates an interactive and personalized interview preparation experience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0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Novelty and Uniqueness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0"/>
          <p:cNvSpPr txBox="1"/>
          <p:nvPr/>
        </p:nvSpPr>
        <p:spPr>
          <a:xfrm>
            <a:off x="445008" y="1079611"/>
            <a:ext cx="11301984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600" b="1" dirty="0"/>
              <a:t>Novel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AI-powered Interview Simulation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Resume-aware Question Generation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Role-specific Interview Preparation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RAG-based Knowledge Retrieval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Technical &amp; HR Interviews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Personalized Feedback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Progress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Secure Spring Boot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IBM Granite AI Integration </a:t>
            </a:r>
          </a:p>
          <a:p>
            <a:r>
              <a:rPr lang="en-US" sz="1600" b="1" dirty="0"/>
              <a:t>Uniqueness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Unlike traditional interview preparation platforms, PrepPilot AI dynamically adapts to the user's profile and provides contextual guidance.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1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Hub Link-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1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https://github.com/ayushi826/Interview-Trainer-Agent-PrepPilot-AI-.git</a:t>
            </a:r>
            <a:endParaRPr lang="en-US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41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41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41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 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2"/>
          <p:cNvSpPr/>
          <p:nvPr/>
        </p:nvSpPr>
        <p:spPr>
          <a:xfrm>
            <a:off x="1218724" y="1124747"/>
            <a:ext cx="9214580" cy="5431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Voice Interview Simulation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Video Interview Analysis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Facial Expression Recognition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ATS Resume Analyzer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Coding Interview Module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Company-specific Interview Sets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AI Career Mentor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Mobile Application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Multilingual Interview Support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174" name="Google Shape;174;p42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42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42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3"/>
          <p:cNvSpPr txBox="1"/>
          <p:nvPr/>
        </p:nvSpPr>
        <p:spPr>
          <a:xfrm>
            <a:off x="327949" y="207380"/>
            <a:ext cx="6096000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Credly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Certificates Earned: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379383-8247-BAA2-D4EE-E2DC1D87A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77" y="1012910"/>
            <a:ext cx="5600775" cy="43218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D84226-1DFD-8A57-39DB-A8AF2B77A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131" y="1023301"/>
            <a:ext cx="5620316" cy="41989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A1F8A125-8F3A-B4CE-F7EE-BA65EF091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3">
            <a:extLst>
              <a:ext uri="{FF2B5EF4-FFF2-40B4-BE49-F238E27FC236}">
                <a16:creationId xmlns:a16="http://schemas.microsoft.com/office/drawing/2014/main" id="{A3E9C5F4-1416-3C87-D435-BA67F01E290B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DB6304-151A-D2AE-BB4F-2BE0BED51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413" y="1150411"/>
            <a:ext cx="6348010" cy="47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496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"/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4"/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your IBM BOB Certificate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BE7C6A-5D87-8F27-0DB5-3234DBCC1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596423" y="908493"/>
            <a:ext cx="4999153" cy="64470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Microsoft Office PowerPoint</Application>
  <PresentationFormat>Widescreen</PresentationFormat>
  <Paragraphs>132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Manda Anirudh</dc:creator>
  <cp:lastModifiedBy>Ayushi Srivastava</cp:lastModifiedBy>
  <cp:revision>1</cp:revision>
  <dcterms:created xsi:type="dcterms:W3CDTF">2025-07-08T05:06:56Z</dcterms:created>
  <dcterms:modified xsi:type="dcterms:W3CDTF">2026-07-14T15:25:56Z</dcterms:modified>
</cp:coreProperties>
</file>